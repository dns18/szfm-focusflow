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4" r:id="rId6"/>
    <p:sldId id="262" r:id="rId7"/>
    <p:sldId id="265" r:id="rId8"/>
    <p:sldId id="266" r:id="rId9"/>
    <p:sldId id="263" r:id="rId10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C5265"/>
    <a:srgbClr val="212129"/>
    <a:srgbClr val="333F50"/>
    <a:srgbClr val="3239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72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435CE62-5ED1-4596-B64C-AB55568602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4BD16775-DCCB-47DD-BA85-F3FDF62FB1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1F65340-8F8E-40A1-AC60-53A60E8D4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F2C93-84A9-444C-B872-DF2E5CC95892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7A2D99A-B6B0-486F-B275-9899B1115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953D6E2-C27F-4DA0-B787-493D4B652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FC544-33F1-425C-B679-F4AAE8F8332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47956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DC95D2F-335F-4793-B649-177651B19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B9D2E67-DA6A-4A00-BC6A-D9693C351F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359894F-53DD-47B5-B3D6-D4310AA7E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F2C93-84A9-444C-B872-DF2E5CC95892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58B8298-0E07-4950-BBB0-99BAE1B88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2AC62CB-19DC-4D5F-9DDA-2CDE85CB2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FC544-33F1-425C-B679-F4AAE8F8332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45586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2DE87D6-1595-46D4-8D77-BAD2A780B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A657090-455F-4756-BF4F-381402F9E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AA207BC-660C-4F56-8AAC-B42402A2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F2C93-84A9-444C-B872-DF2E5CC95892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0D21B26-BF8F-4CBC-8D0C-26C945FA7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6ADD4B4-9D94-488B-A817-E785F260B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FC544-33F1-425C-B679-F4AAE8F8332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93102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FFAC083-2D24-4DC0-B932-4056121B4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3FF1A11-6DAD-4501-B093-19457A1FCE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415B1F1F-DC19-4BB1-AC8F-913EC9898A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50BB2A1D-94F6-4C4D-B610-8542571E7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F2C93-84A9-444C-B872-DF2E5CC95892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F3D40C6F-BFA4-47D6-90CC-12164913A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6015F720-3A96-4505-8409-493E88118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FC544-33F1-425C-B679-F4AAE8F8332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18821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33206D1-CF10-4E83-8F78-73F2E31E8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5B7F09A-B687-42E2-9141-7AB9686CC9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5391D034-84AF-411F-AD8F-126E25F83E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4B9A47D9-D268-48F6-8295-1A921B9795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9C9B05A6-0D88-4DE5-9786-2BBC640769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27E6CD61-E345-4B7F-9C07-0615D6E38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F2C93-84A9-444C-B872-DF2E5CC95892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D4C44D68-A5A9-43B4-8458-4A1CE5BCD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7D7AA11E-3BC9-4162-A20D-E6DD5B7EE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FC544-33F1-425C-B679-F4AAE8F8332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63829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4410446-1B5E-458B-921D-F905E5215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AA2DC18B-C471-4082-853F-CC86D3986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F2C93-84A9-444C-B872-DF2E5CC95892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F474A995-7E1B-4858-87B6-0547FF006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DC40D75F-9C55-4EF6-88D8-0C8C7F525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FC544-33F1-425C-B679-F4AAE8F8332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44853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CB6E38A3-D4C0-4188-A7E1-C686D6A98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F2C93-84A9-444C-B872-DF2E5CC95892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967E39E1-8C8A-418E-A0B8-095A73A68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70242444-D795-491B-B968-6DA020915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FC544-33F1-425C-B679-F4AAE8F8332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87591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1E8C3ED-BA6F-4715-96A5-331868071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27513FD-44CD-4BCA-9B05-C0D606EE4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C7E76680-6B58-49BD-B8A6-C9876120D1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0B268EDA-484F-4154-B0AF-1F7A47B9B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F2C93-84A9-444C-B872-DF2E5CC95892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C7B89AC1-A5F7-46E6-AC91-598353C90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33DFF613-2BF3-44E6-A912-8FB3EF350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FC544-33F1-425C-B679-F4AAE8F8332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04293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926F4B3-F180-48A2-93DD-F8532F61C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B7B26DF0-CC44-4098-8213-D1FFC9E732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64FF5301-EDA8-44E3-931B-24DB0A08D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18EFED7D-6A84-43A1-B2D5-DDAD544EC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F2C93-84A9-444C-B872-DF2E5CC95892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921EC81C-9478-4420-8704-30B2E9561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744812DB-7AEE-480E-B9AC-9D68E11BC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FC544-33F1-425C-B679-F4AAE8F8332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00075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64FC5A1-2E5E-4E73-AF9B-B76038BA8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4E6F44F7-9AC7-43D7-A9D6-96AA55D5E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84FA6E0-BC36-41F6-B50C-1163E590B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F2C93-84A9-444C-B872-DF2E5CC95892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758CD95-8C93-48CB-B706-C9A7DBB99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2A3E6DA-FDAC-4BA6-9221-8958791D5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FC544-33F1-425C-B679-F4AAE8F8332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3347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D2EC4B43-2E32-4D5F-B2D4-8DA2EB9A43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08D8F1DE-3ADA-418B-A747-66A40955C1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054CDBF-45F2-4717-BF49-381BFC89D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F2C93-84A9-444C-B872-DF2E5CC95892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CBD9EF7-5847-465A-9897-3B92AC85A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6C79703-81E5-48F9-84FC-CBAB91D0B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FC544-33F1-425C-B679-F4AAE8F8332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54876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B275B361-5DB0-4D4B-ABA5-37E8CD9A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66F6596C-017E-444F-B456-43DB2493B5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7506D52-2E55-4B23-A8F3-CB84134B8B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7F2C93-84A9-444C-B872-DF2E5CC95892}" type="datetimeFigureOut">
              <a:rPr lang="hu-HU" smtClean="0"/>
              <a:t>2025. 12. 07.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7FC5526-BA11-47DD-A7F7-36C56BCF96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D549261-6E72-49C4-A228-964ECCEA6B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BFC544-33F1-425C-B679-F4AAE8F8332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01944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8FC52102-1A22-49FC-BBB8-3B8FAA297330}"/>
              </a:ext>
            </a:extLst>
          </p:cNvPr>
          <p:cNvSpPr/>
          <p:nvPr/>
        </p:nvSpPr>
        <p:spPr>
          <a:xfrm>
            <a:off x="0" y="5735637"/>
            <a:ext cx="12192000" cy="1122363"/>
          </a:xfrm>
          <a:prstGeom prst="rect">
            <a:avLst/>
          </a:prstGeom>
          <a:solidFill>
            <a:srgbClr val="3239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27B4DFC-092F-486D-9EEC-2FDA238F25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hu-HU" sz="4000" dirty="0">
                <a:solidFill>
                  <a:schemeClr val="bg1"/>
                </a:solidFill>
                <a:latin typeface="Century Gothic" panose="020B0502020202020204" pitchFamily="34" charset="0"/>
              </a:rPr>
              <a:t>Szoftverfejlesztési módszertanok</a:t>
            </a:r>
            <a:br>
              <a:rPr lang="hu-HU" sz="4000" dirty="0">
                <a:solidFill>
                  <a:schemeClr val="bg1"/>
                </a:solidFill>
                <a:latin typeface="Century Gothic" panose="020B0502020202020204" pitchFamily="34" charset="0"/>
              </a:rPr>
            </a:br>
            <a:br>
              <a:rPr lang="hu-HU" dirty="0">
                <a:solidFill>
                  <a:schemeClr val="bg1"/>
                </a:solidFill>
                <a:latin typeface="Century Gothic" panose="020B0502020202020204" pitchFamily="34" charset="0"/>
              </a:rPr>
            </a:br>
            <a:r>
              <a:rPr lang="hu-HU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FocusFlow</a:t>
            </a:r>
            <a:endParaRPr lang="hu-HU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3730CE6F-61E2-46A0-A409-D6A0D562D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79066"/>
            <a:ext cx="9144000" cy="484451"/>
          </a:xfrm>
        </p:spPr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Century Gothic" panose="020B0502020202020204" pitchFamily="34" charset="0"/>
              </a:rPr>
              <a:t>Készítette: Kiss Péter, Győri Dénes, Edmond </a:t>
            </a:r>
            <a:r>
              <a:rPr lang="hu-HU" dirty="0" err="1">
                <a:solidFill>
                  <a:schemeClr val="bg1"/>
                </a:solidFill>
                <a:latin typeface="Century Gothic" panose="020B0502020202020204" pitchFamily="34" charset="0"/>
              </a:rPr>
              <a:t>Petric</a:t>
            </a:r>
            <a:endParaRPr lang="hu-HU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553F0727-A96A-448B-9B3F-6F947BE9BBF4}"/>
              </a:ext>
            </a:extLst>
          </p:cNvPr>
          <p:cNvSpPr/>
          <p:nvPr/>
        </p:nvSpPr>
        <p:spPr>
          <a:xfrm>
            <a:off x="4867701" y="3429000"/>
            <a:ext cx="2456597" cy="92122"/>
          </a:xfrm>
          <a:prstGeom prst="rect">
            <a:avLst/>
          </a:prstGeom>
          <a:solidFill>
            <a:srgbClr val="4C52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48917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90EFBDA-D9C5-4A15-BE0A-AEB8738C1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744" y="751491"/>
            <a:ext cx="6064876" cy="1325563"/>
          </a:xfrm>
        </p:spPr>
        <p:txBody>
          <a:bodyPr/>
          <a:lstStyle/>
          <a:p>
            <a:r>
              <a:rPr lang="hu-HU" dirty="0">
                <a:latin typeface="Century Gothic" panose="020B0502020202020204" pitchFamily="34" charset="0"/>
              </a:rPr>
              <a:t>Mi is az a </a:t>
            </a:r>
            <a:r>
              <a:rPr lang="hu-HU" dirty="0" err="1">
                <a:latin typeface="Century Gothic" panose="020B0502020202020204" pitchFamily="34" charset="0"/>
              </a:rPr>
              <a:t>FocusFlow</a:t>
            </a:r>
            <a:r>
              <a:rPr lang="hu-HU" dirty="0">
                <a:latin typeface="Century Gothic" panose="020B0502020202020204" pitchFamily="34" charset="0"/>
              </a:rPr>
              <a:t>?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A60CDF4-20B6-42FF-B556-AC5CD09F8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744" y="2949261"/>
            <a:ext cx="7069428" cy="3279217"/>
          </a:xfrm>
        </p:spPr>
        <p:txBody>
          <a:bodyPr/>
          <a:lstStyle/>
          <a:p>
            <a:pPr marL="0" indent="0" algn="just">
              <a:buNone/>
            </a:pPr>
            <a:r>
              <a:rPr lang="hu-HU" dirty="0">
                <a:latin typeface="Century Gothic" panose="020B0502020202020204" pitchFamily="34" charset="0"/>
              </a:rPr>
              <a:t>A </a:t>
            </a:r>
            <a:r>
              <a:rPr lang="hu-HU" dirty="0" err="1">
                <a:latin typeface="Century Gothic" panose="020B0502020202020204" pitchFamily="34" charset="0"/>
              </a:rPr>
              <a:t>FocusFlow</a:t>
            </a:r>
            <a:r>
              <a:rPr lang="hu-HU" dirty="0">
                <a:latin typeface="Century Gothic" panose="020B0502020202020204" pitchFamily="34" charset="0"/>
              </a:rPr>
              <a:t> egy webes tanulástámogató eszköz, amely a </a:t>
            </a:r>
            <a:r>
              <a:rPr lang="hu-HU" dirty="0" err="1">
                <a:latin typeface="Century Gothic" panose="020B0502020202020204" pitchFamily="34" charset="0"/>
              </a:rPr>
              <a:t>Pomodoro</a:t>
            </a:r>
            <a:r>
              <a:rPr lang="hu-HU" dirty="0">
                <a:latin typeface="Century Gothic" panose="020B0502020202020204" pitchFamily="34" charset="0"/>
              </a:rPr>
              <a:t>-technika, a tanulási statisztikák és az AI-alapú személyes </a:t>
            </a:r>
            <a:r>
              <a:rPr lang="hu-HU" dirty="0" err="1">
                <a:latin typeface="Century Gothic" panose="020B0502020202020204" pitchFamily="34" charset="0"/>
              </a:rPr>
              <a:t>tutorálás</a:t>
            </a:r>
            <a:r>
              <a:rPr lang="hu-HU" dirty="0">
                <a:latin typeface="Century Gothic" panose="020B0502020202020204" pitchFamily="34" charset="0"/>
              </a:rPr>
              <a:t> együttesével segít a felhasználóknak hatékonyabban tanulni és </a:t>
            </a:r>
            <a:r>
              <a:rPr lang="hu-HU" dirty="0" err="1">
                <a:latin typeface="Century Gothic" panose="020B0502020202020204" pitchFamily="34" charset="0"/>
              </a:rPr>
              <a:t>fókuszáltabbá</a:t>
            </a:r>
            <a:r>
              <a:rPr lang="hu-HU" dirty="0">
                <a:latin typeface="Century Gothic" panose="020B0502020202020204" pitchFamily="34" charset="0"/>
              </a:rPr>
              <a:t> válni</a:t>
            </a:r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AAC6DA17-06C5-47AF-9C05-08C446B1B4B3}"/>
              </a:ext>
            </a:extLst>
          </p:cNvPr>
          <p:cNvSpPr/>
          <p:nvPr/>
        </p:nvSpPr>
        <p:spPr>
          <a:xfrm>
            <a:off x="953359" y="1778000"/>
            <a:ext cx="4888642" cy="52510"/>
          </a:xfrm>
          <a:prstGeom prst="rect">
            <a:avLst/>
          </a:prstGeom>
          <a:solidFill>
            <a:srgbClr val="4C52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23" name="Csoportba foglalás 22">
            <a:extLst>
              <a:ext uri="{FF2B5EF4-FFF2-40B4-BE49-F238E27FC236}">
                <a16:creationId xmlns:a16="http://schemas.microsoft.com/office/drawing/2014/main" id="{17E9145F-1F53-4601-822C-1009F5600897}"/>
              </a:ext>
            </a:extLst>
          </p:cNvPr>
          <p:cNvGrpSpPr/>
          <p:nvPr/>
        </p:nvGrpSpPr>
        <p:grpSpPr>
          <a:xfrm rot="5400000">
            <a:off x="10558020" y="5224021"/>
            <a:ext cx="1633979" cy="1633979"/>
            <a:chOff x="9500314" y="3884524"/>
            <a:chExt cx="2343954" cy="2343954"/>
          </a:xfrm>
          <a:solidFill>
            <a:srgbClr val="212129"/>
          </a:solidFill>
        </p:grpSpPr>
        <p:sp>
          <p:nvSpPr>
            <p:cNvPr id="5" name="Téglalap 4">
              <a:extLst>
                <a:ext uri="{FF2B5EF4-FFF2-40B4-BE49-F238E27FC236}">
                  <a16:creationId xmlns:a16="http://schemas.microsoft.com/office/drawing/2014/main" id="{924BC566-EBD8-4551-9C1B-562C3DCB4950}"/>
                </a:ext>
              </a:extLst>
            </p:cNvPr>
            <p:cNvSpPr/>
            <p:nvPr/>
          </p:nvSpPr>
          <p:spPr>
            <a:xfrm>
              <a:off x="9500314" y="3884524"/>
              <a:ext cx="1171977" cy="117197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" name="Téglalap 5">
              <a:extLst>
                <a:ext uri="{FF2B5EF4-FFF2-40B4-BE49-F238E27FC236}">
                  <a16:creationId xmlns:a16="http://schemas.microsoft.com/office/drawing/2014/main" id="{E544B794-F607-44E9-B2B0-B0EA551080A8}"/>
                </a:ext>
              </a:extLst>
            </p:cNvPr>
            <p:cNvSpPr/>
            <p:nvPr/>
          </p:nvSpPr>
          <p:spPr>
            <a:xfrm>
              <a:off x="10672291" y="3884524"/>
              <a:ext cx="1171977" cy="117197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" name="Téglalap 6">
              <a:extLst>
                <a:ext uri="{FF2B5EF4-FFF2-40B4-BE49-F238E27FC236}">
                  <a16:creationId xmlns:a16="http://schemas.microsoft.com/office/drawing/2014/main" id="{66361F58-A97C-4B3B-A3A2-C52986E63F57}"/>
                </a:ext>
              </a:extLst>
            </p:cNvPr>
            <p:cNvSpPr/>
            <p:nvPr/>
          </p:nvSpPr>
          <p:spPr>
            <a:xfrm>
              <a:off x="10672291" y="5056501"/>
              <a:ext cx="1171977" cy="117197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</p:spTree>
    <p:extLst>
      <p:ext uri="{BB962C8B-B14F-4D97-AF65-F5344CB8AC3E}">
        <p14:creationId xmlns:p14="http://schemas.microsoft.com/office/powerpoint/2010/main" val="35599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EFD870E-9A66-4FB1-91AE-0E40DC079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 err="1">
                <a:solidFill>
                  <a:schemeClr val="bg1"/>
                </a:solidFill>
                <a:latin typeface="Century Gothic" panose="020B0502020202020204" pitchFamily="34" charset="0"/>
              </a:rPr>
              <a:t>User</a:t>
            </a:r>
            <a:r>
              <a:rPr lang="hu-HU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hu-HU" dirty="0" err="1">
                <a:solidFill>
                  <a:schemeClr val="bg1"/>
                </a:solidFill>
                <a:latin typeface="Century Gothic" panose="020B0502020202020204" pitchFamily="34" charset="0"/>
              </a:rPr>
              <a:t>Interface</a:t>
            </a:r>
            <a:endParaRPr lang="hu-HU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50C88BEC-E045-4B18-9BBF-C6E308C041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987" y="1690688"/>
            <a:ext cx="8097641" cy="3981129"/>
          </a:xfrm>
          <a:prstGeom prst="roundRect">
            <a:avLst>
              <a:gd name="adj" fmla="val 3481"/>
            </a:avLst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A2FB9F15-8663-4101-A846-3045E29BA7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6808" y="2501751"/>
            <a:ext cx="8113983" cy="3981129"/>
          </a:xfrm>
          <a:prstGeom prst="roundRect">
            <a:avLst>
              <a:gd name="adj" fmla="val 4332"/>
            </a:avLst>
          </a:prstGeom>
        </p:spPr>
      </p:pic>
      <p:grpSp>
        <p:nvGrpSpPr>
          <p:cNvPr id="16" name="Csoportba foglalás 15">
            <a:extLst>
              <a:ext uri="{FF2B5EF4-FFF2-40B4-BE49-F238E27FC236}">
                <a16:creationId xmlns:a16="http://schemas.microsoft.com/office/drawing/2014/main" id="{DA8D2CBB-3C33-4F69-B4E4-714765D4EB20}"/>
              </a:ext>
            </a:extLst>
          </p:cNvPr>
          <p:cNvGrpSpPr/>
          <p:nvPr/>
        </p:nvGrpSpPr>
        <p:grpSpPr>
          <a:xfrm>
            <a:off x="10482606" y="-12879"/>
            <a:ext cx="1735150" cy="1735150"/>
            <a:chOff x="9873802" y="-12879"/>
            <a:chExt cx="2343954" cy="2343954"/>
          </a:xfrm>
        </p:grpSpPr>
        <p:sp>
          <p:nvSpPr>
            <p:cNvPr id="13" name="Téglalap 12">
              <a:extLst>
                <a:ext uri="{FF2B5EF4-FFF2-40B4-BE49-F238E27FC236}">
                  <a16:creationId xmlns:a16="http://schemas.microsoft.com/office/drawing/2014/main" id="{FD9192DD-E5F4-49C4-B00B-DDA7C5D8C964}"/>
                </a:ext>
              </a:extLst>
            </p:cNvPr>
            <p:cNvSpPr/>
            <p:nvPr/>
          </p:nvSpPr>
          <p:spPr>
            <a:xfrm>
              <a:off x="9873802" y="-12879"/>
              <a:ext cx="1171977" cy="1171977"/>
            </a:xfrm>
            <a:prstGeom prst="rect">
              <a:avLst/>
            </a:prstGeom>
            <a:solidFill>
              <a:srgbClr val="4C52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4" name="Téglalap 13">
              <a:extLst>
                <a:ext uri="{FF2B5EF4-FFF2-40B4-BE49-F238E27FC236}">
                  <a16:creationId xmlns:a16="http://schemas.microsoft.com/office/drawing/2014/main" id="{217F51E7-85FE-472F-A1AC-7B4F231AEFAA}"/>
                </a:ext>
              </a:extLst>
            </p:cNvPr>
            <p:cNvSpPr/>
            <p:nvPr/>
          </p:nvSpPr>
          <p:spPr>
            <a:xfrm>
              <a:off x="11045779" y="-12879"/>
              <a:ext cx="1171977" cy="1171977"/>
            </a:xfrm>
            <a:prstGeom prst="rect">
              <a:avLst/>
            </a:prstGeom>
            <a:solidFill>
              <a:srgbClr val="4C52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5" name="Téglalap 14">
              <a:extLst>
                <a:ext uri="{FF2B5EF4-FFF2-40B4-BE49-F238E27FC236}">
                  <a16:creationId xmlns:a16="http://schemas.microsoft.com/office/drawing/2014/main" id="{22C4979A-6112-4D24-9E50-0F70C08415A6}"/>
                </a:ext>
              </a:extLst>
            </p:cNvPr>
            <p:cNvSpPr/>
            <p:nvPr/>
          </p:nvSpPr>
          <p:spPr>
            <a:xfrm>
              <a:off x="11045779" y="1159098"/>
              <a:ext cx="1171977" cy="1171977"/>
            </a:xfrm>
            <a:prstGeom prst="rect">
              <a:avLst/>
            </a:prstGeom>
            <a:solidFill>
              <a:srgbClr val="4C52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7" name="Téglalap 16">
            <a:extLst>
              <a:ext uri="{FF2B5EF4-FFF2-40B4-BE49-F238E27FC236}">
                <a16:creationId xmlns:a16="http://schemas.microsoft.com/office/drawing/2014/main" id="{F5B002D3-79F6-44BC-9CF4-B57271492C96}"/>
              </a:ext>
            </a:extLst>
          </p:cNvPr>
          <p:cNvSpPr/>
          <p:nvPr/>
        </p:nvSpPr>
        <p:spPr>
          <a:xfrm flipV="1">
            <a:off x="4729906" y="1315592"/>
            <a:ext cx="2732188" cy="45719"/>
          </a:xfrm>
          <a:prstGeom prst="rect">
            <a:avLst/>
          </a:prstGeom>
          <a:solidFill>
            <a:srgbClr val="4C52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4712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446F795-4D3C-45B9-9404-9206ECC4EB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4519"/>
            <a:ext cx="9144000" cy="1036948"/>
          </a:xfrm>
        </p:spPr>
        <p:txBody>
          <a:bodyPr>
            <a:normAutofit fontScale="90000"/>
          </a:bodyPr>
          <a:lstStyle/>
          <a:p>
            <a:pPr algn="ctr"/>
            <a:r>
              <a:rPr lang="hu-HU" sz="3600" dirty="0" err="1">
                <a:solidFill>
                  <a:schemeClr val="bg1"/>
                </a:solidFill>
                <a:latin typeface="Century Gothic" panose="020B0502020202020204" pitchFamily="34" charset="0"/>
              </a:rPr>
              <a:t>User</a:t>
            </a:r>
            <a:r>
              <a:rPr lang="hu-HU" sz="3600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hu-HU" sz="3600" dirty="0" err="1">
                <a:solidFill>
                  <a:schemeClr val="bg1"/>
                </a:solidFill>
                <a:latin typeface="Century Gothic" panose="020B0502020202020204" pitchFamily="34" charset="0"/>
              </a:rPr>
              <a:t>Interface</a:t>
            </a:r>
            <a:r>
              <a:rPr lang="hu-HU" sz="3600" dirty="0">
                <a:solidFill>
                  <a:schemeClr val="bg1"/>
                </a:solidFill>
                <a:latin typeface="Century Gothic" panose="020B0502020202020204" pitchFamily="34" charset="0"/>
              </a:rPr>
              <a:t> – Bejelentkezés/Regisztráció</a:t>
            </a:r>
          </a:p>
        </p:txBody>
      </p:sp>
      <p:sp>
        <p:nvSpPr>
          <p:cNvPr id="22" name="Alcím 21">
            <a:extLst>
              <a:ext uri="{FF2B5EF4-FFF2-40B4-BE49-F238E27FC236}">
                <a16:creationId xmlns:a16="http://schemas.microsoft.com/office/drawing/2014/main" id="{54515318-C909-4825-8A7C-DA91C7842E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7845" y="4600280"/>
            <a:ext cx="6618647" cy="1650605"/>
          </a:xfrm>
        </p:spPr>
        <p:txBody>
          <a:bodyPr>
            <a:normAutofit/>
          </a:bodyPr>
          <a:lstStyle/>
          <a:p>
            <a:pPr algn="just"/>
            <a:r>
              <a:rPr lang="hu-HU" sz="1600" b="0" i="0" dirty="0"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A képernyő tetején látható a felhasználó profilképe, valamint neve, email címe és azonosítója. A </a:t>
            </a:r>
            <a:r>
              <a:rPr lang="hu-HU" sz="1600" b="0" i="0" dirty="0" err="1"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FocusFlow</a:t>
            </a:r>
            <a:r>
              <a:rPr lang="hu-HU" sz="1600" b="0" i="0" dirty="0"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 egy </a:t>
            </a:r>
            <a:r>
              <a:rPr lang="hu-HU" sz="1600" b="0" i="0" dirty="0" err="1"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játékosított</a:t>
            </a:r>
            <a:r>
              <a:rPr lang="hu-HU" sz="1600" b="0" i="0" dirty="0"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 motivációs rendszert használ, ahol a felhasználó XP-t szerezhet tanulással és napi bejelentkezéssel. A „Mai motiváció” részben megtekinthető az aznapi XP-gyűjtés állapota, a napi cél, valamint egy vizuális fejlődési sáv mutatja, mennyi hiányzik a teljesítéshez.</a:t>
            </a:r>
            <a:endParaRPr lang="hu-HU" sz="16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5" name="Kép 14">
            <a:extLst>
              <a:ext uri="{FF2B5EF4-FFF2-40B4-BE49-F238E27FC236}">
                <a16:creationId xmlns:a16="http://schemas.microsoft.com/office/drawing/2014/main" id="{23A41086-BA6E-4074-814E-347DA783D3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128" b="48936"/>
          <a:stretch/>
        </p:blipFill>
        <p:spPr>
          <a:xfrm>
            <a:off x="1027845" y="1549399"/>
            <a:ext cx="2968659" cy="2936411"/>
          </a:xfrm>
          <a:prstGeom prst="roundRect">
            <a:avLst>
              <a:gd name="adj" fmla="val 6287"/>
            </a:avLst>
          </a:prstGeom>
        </p:spPr>
      </p:pic>
      <p:pic>
        <p:nvPicPr>
          <p:cNvPr id="17" name="Kép 16">
            <a:extLst>
              <a:ext uri="{FF2B5EF4-FFF2-40B4-BE49-F238E27FC236}">
                <a16:creationId xmlns:a16="http://schemas.microsoft.com/office/drawing/2014/main" id="{4F762744-41A3-4B9A-8599-F4E2D2F33B1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252" t="3752" r="8988" b="46412"/>
          <a:stretch/>
        </p:blipFill>
        <p:spPr>
          <a:xfrm>
            <a:off x="4677833" y="1549400"/>
            <a:ext cx="2968659" cy="2936411"/>
          </a:xfrm>
          <a:prstGeom prst="roundRect">
            <a:avLst>
              <a:gd name="adj" fmla="val 7440"/>
            </a:avLst>
          </a:prstGeom>
        </p:spPr>
      </p:pic>
      <p:pic>
        <p:nvPicPr>
          <p:cNvPr id="11" name="Tartalom helye 4">
            <a:extLst>
              <a:ext uri="{FF2B5EF4-FFF2-40B4-BE49-F238E27FC236}">
                <a16:creationId xmlns:a16="http://schemas.microsoft.com/office/drawing/2014/main" id="{F46D63B7-D305-4E00-89CE-CB518BFCCF2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53" t="9007" r="37179" b="1128"/>
          <a:stretch/>
        </p:blipFill>
        <p:spPr>
          <a:xfrm>
            <a:off x="8327821" y="1549399"/>
            <a:ext cx="2836333" cy="4943474"/>
          </a:xfrm>
          <a:prstGeom prst="roundRect">
            <a:avLst>
              <a:gd name="adj" fmla="val 5025"/>
            </a:avLst>
          </a:prstGeom>
        </p:spPr>
      </p:pic>
      <p:grpSp>
        <p:nvGrpSpPr>
          <p:cNvPr id="18" name="Csoportba foglalás 17">
            <a:extLst>
              <a:ext uri="{FF2B5EF4-FFF2-40B4-BE49-F238E27FC236}">
                <a16:creationId xmlns:a16="http://schemas.microsoft.com/office/drawing/2014/main" id="{AAC841C9-5A05-4145-AE0D-B9E7AE080184}"/>
              </a:ext>
            </a:extLst>
          </p:cNvPr>
          <p:cNvGrpSpPr/>
          <p:nvPr/>
        </p:nvGrpSpPr>
        <p:grpSpPr>
          <a:xfrm rot="10800000">
            <a:off x="0" y="5592975"/>
            <a:ext cx="1265025" cy="1265025"/>
            <a:chOff x="9500314" y="3884524"/>
            <a:chExt cx="2343954" cy="2343954"/>
          </a:xfrm>
          <a:solidFill>
            <a:srgbClr val="333F50"/>
          </a:solidFill>
        </p:grpSpPr>
        <p:sp>
          <p:nvSpPr>
            <p:cNvPr id="19" name="Téglalap 18">
              <a:extLst>
                <a:ext uri="{FF2B5EF4-FFF2-40B4-BE49-F238E27FC236}">
                  <a16:creationId xmlns:a16="http://schemas.microsoft.com/office/drawing/2014/main" id="{BD840463-1E6C-4ED7-B34C-5286B22EF2E9}"/>
                </a:ext>
              </a:extLst>
            </p:cNvPr>
            <p:cNvSpPr/>
            <p:nvPr/>
          </p:nvSpPr>
          <p:spPr>
            <a:xfrm>
              <a:off x="9500314" y="3884524"/>
              <a:ext cx="1171977" cy="117197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0" name="Téglalap 19">
              <a:extLst>
                <a:ext uri="{FF2B5EF4-FFF2-40B4-BE49-F238E27FC236}">
                  <a16:creationId xmlns:a16="http://schemas.microsoft.com/office/drawing/2014/main" id="{890453E6-8CBC-4152-A329-C6C6320A3C56}"/>
                </a:ext>
              </a:extLst>
            </p:cNvPr>
            <p:cNvSpPr/>
            <p:nvPr/>
          </p:nvSpPr>
          <p:spPr>
            <a:xfrm>
              <a:off x="10672291" y="3884524"/>
              <a:ext cx="1171977" cy="117197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" name="Téglalap 20">
              <a:extLst>
                <a:ext uri="{FF2B5EF4-FFF2-40B4-BE49-F238E27FC236}">
                  <a16:creationId xmlns:a16="http://schemas.microsoft.com/office/drawing/2014/main" id="{828CBB60-8906-44F4-A147-746E4C630F54}"/>
                </a:ext>
              </a:extLst>
            </p:cNvPr>
            <p:cNvSpPr/>
            <p:nvPr/>
          </p:nvSpPr>
          <p:spPr>
            <a:xfrm>
              <a:off x="10672291" y="5056501"/>
              <a:ext cx="1171977" cy="117197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</p:spTree>
    <p:extLst>
      <p:ext uri="{BB962C8B-B14F-4D97-AF65-F5344CB8AC3E}">
        <p14:creationId xmlns:p14="http://schemas.microsoft.com/office/powerpoint/2010/main" val="4064583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71BB95E-C60D-44E1-A7B1-18A98EE0F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5832" y="201231"/>
            <a:ext cx="9440333" cy="1325563"/>
          </a:xfrm>
        </p:spPr>
        <p:txBody>
          <a:bodyPr/>
          <a:lstStyle/>
          <a:p>
            <a:pPr algn="ctr"/>
            <a:r>
              <a:rPr lang="hu-HU" dirty="0" err="1"/>
              <a:t>User</a:t>
            </a:r>
            <a:r>
              <a:rPr lang="hu-HU" dirty="0"/>
              <a:t> </a:t>
            </a:r>
            <a:r>
              <a:rPr lang="hu-HU" dirty="0" err="1"/>
              <a:t>Interface</a:t>
            </a:r>
            <a:r>
              <a:rPr lang="hu-HU" dirty="0"/>
              <a:t> - Témaválasztás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83AA2179-DE1A-4901-93F2-388FCCFA98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10"/>
          <a:stretch/>
        </p:blipFill>
        <p:spPr>
          <a:xfrm>
            <a:off x="1016710" y="1686850"/>
            <a:ext cx="3918322" cy="2884008"/>
          </a:xfrm>
          <a:prstGeom prst="roundRect">
            <a:avLst>
              <a:gd name="adj" fmla="val 8153"/>
            </a:avLst>
          </a:prstGeom>
          <a:effectLst>
            <a:softEdge rad="0"/>
          </a:effectLst>
        </p:spPr>
      </p:pic>
      <p:pic>
        <p:nvPicPr>
          <p:cNvPr id="7" name="Tartalom helye 11">
            <a:extLst>
              <a:ext uri="{FF2B5EF4-FFF2-40B4-BE49-F238E27FC236}">
                <a16:creationId xmlns:a16="http://schemas.microsoft.com/office/drawing/2014/main" id="{C43DFAC5-E3F1-47E1-91A6-CA130FA7D3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092"/>
          <a:stretch/>
        </p:blipFill>
        <p:spPr>
          <a:xfrm>
            <a:off x="1672566" y="4649218"/>
            <a:ext cx="2606611" cy="1561410"/>
          </a:xfrm>
          <a:prstGeom prst="roundRect">
            <a:avLst>
              <a:gd name="adj" fmla="val 9618"/>
            </a:avLst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75A13063-B7AE-4344-9A89-F231D0236E0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274" t="10205" r="1595" b="-4"/>
          <a:stretch/>
        </p:blipFill>
        <p:spPr>
          <a:xfrm>
            <a:off x="5275384" y="1686850"/>
            <a:ext cx="6101861" cy="4645120"/>
          </a:xfrm>
          <a:prstGeom prst="roundRect">
            <a:avLst>
              <a:gd name="adj" fmla="val 7165"/>
            </a:avLst>
          </a:prstGeom>
        </p:spPr>
      </p:pic>
      <p:pic>
        <p:nvPicPr>
          <p:cNvPr id="8" name="Tartalom helye 4">
            <a:extLst>
              <a:ext uri="{FF2B5EF4-FFF2-40B4-BE49-F238E27FC236}">
                <a16:creationId xmlns:a16="http://schemas.microsoft.com/office/drawing/2014/main" id="{C27649DD-1D2A-4825-BE69-79CF83D9C3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710" y="1633549"/>
            <a:ext cx="3918322" cy="4751722"/>
          </a:xfrm>
          <a:prstGeom prst="roundRect">
            <a:avLst>
              <a:gd name="adj" fmla="val 5813"/>
            </a:avLst>
          </a:prstGeom>
        </p:spPr>
      </p:pic>
      <p:grpSp>
        <p:nvGrpSpPr>
          <p:cNvPr id="9" name="Csoportba foglalás 8">
            <a:extLst>
              <a:ext uri="{FF2B5EF4-FFF2-40B4-BE49-F238E27FC236}">
                <a16:creationId xmlns:a16="http://schemas.microsoft.com/office/drawing/2014/main" id="{FBE8ADE5-889D-4E4C-B45A-73627E53ECCB}"/>
              </a:ext>
            </a:extLst>
          </p:cNvPr>
          <p:cNvGrpSpPr/>
          <p:nvPr/>
        </p:nvGrpSpPr>
        <p:grpSpPr>
          <a:xfrm rot="16200000">
            <a:off x="0" y="0"/>
            <a:ext cx="1265025" cy="1265025"/>
            <a:chOff x="9500314" y="3884524"/>
            <a:chExt cx="2343954" cy="2343954"/>
          </a:xfrm>
          <a:solidFill>
            <a:srgbClr val="212129"/>
          </a:solidFill>
        </p:grpSpPr>
        <p:sp>
          <p:nvSpPr>
            <p:cNvPr id="10" name="Téglalap 9">
              <a:extLst>
                <a:ext uri="{FF2B5EF4-FFF2-40B4-BE49-F238E27FC236}">
                  <a16:creationId xmlns:a16="http://schemas.microsoft.com/office/drawing/2014/main" id="{66BBFC95-C15C-4971-89A8-1F923D586A88}"/>
                </a:ext>
              </a:extLst>
            </p:cNvPr>
            <p:cNvSpPr/>
            <p:nvPr/>
          </p:nvSpPr>
          <p:spPr>
            <a:xfrm>
              <a:off x="9500314" y="3884524"/>
              <a:ext cx="1171977" cy="117197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" name="Téglalap 10">
              <a:extLst>
                <a:ext uri="{FF2B5EF4-FFF2-40B4-BE49-F238E27FC236}">
                  <a16:creationId xmlns:a16="http://schemas.microsoft.com/office/drawing/2014/main" id="{D0C204BE-356E-43EE-A9FC-454C7758A38B}"/>
                </a:ext>
              </a:extLst>
            </p:cNvPr>
            <p:cNvSpPr/>
            <p:nvPr/>
          </p:nvSpPr>
          <p:spPr>
            <a:xfrm>
              <a:off x="10672291" y="3884524"/>
              <a:ext cx="1171977" cy="117197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" name="Téglalap 11">
              <a:extLst>
                <a:ext uri="{FF2B5EF4-FFF2-40B4-BE49-F238E27FC236}">
                  <a16:creationId xmlns:a16="http://schemas.microsoft.com/office/drawing/2014/main" id="{FB8EF24A-1D3D-431B-9D6C-CBD81867E8C3}"/>
                </a:ext>
              </a:extLst>
            </p:cNvPr>
            <p:cNvSpPr/>
            <p:nvPr/>
          </p:nvSpPr>
          <p:spPr>
            <a:xfrm>
              <a:off x="10672291" y="5056501"/>
              <a:ext cx="1171977" cy="117197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3" name="Téglalap 12">
            <a:extLst>
              <a:ext uri="{FF2B5EF4-FFF2-40B4-BE49-F238E27FC236}">
                <a16:creationId xmlns:a16="http://schemas.microsoft.com/office/drawing/2014/main" id="{CCD9BFAD-8009-426D-B0B7-FA45F6722CC9}"/>
              </a:ext>
            </a:extLst>
          </p:cNvPr>
          <p:cNvSpPr/>
          <p:nvPr/>
        </p:nvSpPr>
        <p:spPr>
          <a:xfrm>
            <a:off x="2975873" y="1202267"/>
            <a:ext cx="6240254" cy="62760"/>
          </a:xfrm>
          <a:prstGeom prst="rect">
            <a:avLst/>
          </a:prstGeom>
          <a:solidFill>
            <a:srgbClr val="4C52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5" name="Kép 14">
            <a:extLst>
              <a:ext uri="{FF2B5EF4-FFF2-40B4-BE49-F238E27FC236}">
                <a16:creationId xmlns:a16="http://schemas.microsoft.com/office/drawing/2014/main" id="{E7BB056C-CD0C-409F-A999-F0A0D6AFD5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6440" y="1432318"/>
            <a:ext cx="2438861" cy="5224451"/>
          </a:xfrm>
          <a:prstGeom prst="roundRect">
            <a:avLst>
              <a:gd name="adj" fmla="val 5211"/>
            </a:avLst>
          </a:prstGeom>
        </p:spPr>
      </p:pic>
    </p:spTree>
    <p:extLst>
      <p:ext uri="{BB962C8B-B14F-4D97-AF65-F5344CB8AC3E}">
        <p14:creationId xmlns:p14="http://schemas.microsoft.com/office/powerpoint/2010/main" val="524842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EE4A555-BA04-4E4F-91D0-91C1751AA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343855"/>
            <a:ext cx="12192000" cy="1325563"/>
          </a:xfrm>
        </p:spPr>
        <p:txBody>
          <a:bodyPr/>
          <a:lstStyle/>
          <a:p>
            <a:pPr algn="ctr"/>
            <a:r>
              <a:rPr lang="hu-HU" dirty="0">
                <a:solidFill>
                  <a:schemeClr val="bg1"/>
                </a:solidFill>
                <a:latin typeface="Century Gothic" panose="020B0502020202020204" pitchFamily="34" charset="0"/>
              </a:rPr>
              <a:t>Backend – AI szabályozás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3517104A-405A-434C-B49D-7A84E7B82C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3298" y="1690061"/>
            <a:ext cx="6805404" cy="4824084"/>
          </a:xfrm>
          <a:prstGeom prst="roundRect">
            <a:avLst>
              <a:gd name="adj" fmla="val 3679"/>
            </a:avLst>
          </a:prstGeom>
        </p:spPr>
      </p:pic>
      <p:sp>
        <p:nvSpPr>
          <p:cNvPr id="6" name="Téglalap 5">
            <a:extLst>
              <a:ext uri="{FF2B5EF4-FFF2-40B4-BE49-F238E27FC236}">
                <a16:creationId xmlns:a16="http://schemas.microsoft.com/office/drawing/2014/main" id="{4AA39055-32C2-42C9-AF7A-6F50B2335845}"/>
              </a:ext>
            </a:extLst>
          </p:cNvPr>
          <p:cNvSpPr/>
          <p:nvPr/>
        </p:nvSpPr>
        <p:spPr>
          <a:xfrm>
            <a:off x="3733479" y="1382652"/>
            <a:ext cx="4725042" cy="45719"/>
          </a:xfrm>
          <a:prstGeom prst="rect">
            <a:avLst/>
          </a:prstGeom>
          <a:solidFill>
            <a:srgbClr val="4C52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20855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05472A5-8567-4928-AB35-736239455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 err="1">
                <a:solidFill>
                  <a:schemeClr val="bg1"/>
                </a:solidFill>
                <a:latin typeface="Century Gothic" panose="020B0502020202020204" pitchFamily="34" charset="0"/>
              </a:rPr>
              <a:t>Github</a:t>
            </a:r>
            <a:endParaRPr lang="hu-HU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Tartalom helye 8">
            <a:extLst>
              <a:ext uri="{FF2B5EF4-FFF2-40B4-BE49-F238E27FC236}">
                <a16:creationId xmlns:a16="http://schemas.microsoft.com/office/drawing/2014/main" id="{040A5B42-7A6F-4341-8C61-7A6DB3CD34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79962" y="1559621"/>
            <a:ext cx="5232075" cy="5109100"/>
          </a:xfrm>
          <a:prstGeom prst="roundRect">
            <a:avLst>
              <a:gd name="adj" fmla="val 2581"/>
            </a:avLst>
          </a:prstGeom>
        </p:spPr>
      </p:pic>
      <p:grpSp>
        <p:nvGrpSpPr>
          <p:cNvPr id="4" name="Csoportba foglalás 3">
            <a:extLst>
              <a:ext uri="{FF2B5EF4-FFF2-40B4-BE49-F238E27FC236}">
                <a16:creationId xmlns:a16="http://schemas.microsoft.com/office/drawing/2014/main" id="{9C3BA6F9-6F03-413D-B498-993E3B90363A}"/>
              </a:ext>
            </a:extLst>
          </p:cNvPr>
          <p:cNvGrpSpPr/>
          <p:nvPr/>
        </p:nvGrpSpPr>
        <p:grpSpPr>
          <a:xfrm>
            <a:off x="10926975" y="0"/>
            <a:ext cx="1265025" cy="1265025"/>
            <a:chOff x="9500314" y="3884524"/>
            <a:chExt cx="2343954" cy="2343954"/>
          </a:xfrm>
          <a:solidFill>
            <a:srgbClr val="4C5265"/>
          </a:solidFill>
        </p:grpSpPr>
        <p:sp>
          <p:nvSpPr>
            <p:cNvPr id="5" name="Téglalap 4">
              <a:extLst>
                <a:ext uri="{FF2B5EF4-FFF2-40B4-BE49-F238E27FC236}">
                  <a16:creationId xmlns:a16="http://schemas.microsoft.com/office/drawing/2014/main" id="{D1D8339D-D22E-4D5A-BA61-4025A9529B1B}"/>
                </a:ext>
              </a:extLst>
            </p:cNvPr>
            <p:cNvSpPr/>
            <p:nvPr/>
          </p:nvSpPr>
          <p:spPr>
            <a:xfrm>
              <a:off x="9500314" y="3884524"/>
              <a:ext cx="1171977" cy="117197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" name="Téglalap 5">
              <a:extLst>
                <a:ext uri="{FF2B5EF4-FFF2-40B4-BE49-F238E27FC236}">
                  <a16:creationId xmlns:a16="http://schemas.microsoft.com/office/drawing/2014/main" id="{D28F2974-94BB-4285-9787-5E18275B2D70}"/>
                </a:ext>
              </a:extLst>
            </p:cNvPr>
            <p:cNvSpPr/>
            <p:nvPr/>
          </p:nvSpPr>
          <p:spPr>
            <a:xfrm>
              <a:off x="10672291" y="3884524"/>
              <a:ext cx="1171977" cy="117197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" name="Téglalap 6">
              <a:extLst>
                <a:ext uri="{FF2B5EF4-FFF2-40B4-BE49-F238E27FC236}">
                  <a16:creationId xmlns:a16="http://schemas.microsoft.com/office/drawing/2014/main" id="{4C77BBCF-A671-4E71-8C21-EF3F0FED0B70}"/>
                </a:ext>
              </a:extLst>
            </p:cNvPr>
            <p:cNvSpPr/>
            <p:nvPr/>
          </p:nvSpPr>
          <p:spPr>
            <a:xfrm>
              <a:off x="10672291" y="5056501"/>
              <a:ext cx="1171977" cy="117197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</p:spTree>
    <p:extLst>
      <p:ext uri="{BB962C8B-B14F-4D97-AF65-F5344CB8AC3E}">
        <p14:creationId xmlns:p14="http://schemas.microsoft.com/office/powerpoint/2010/main" val="2922202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05472A5-8567-4928-AB35-736239455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 err="1">
                <a:solidFill>
                  <a:schemeClr val="bg1"/>
                </a:solidFill>
                <a:latin typeface="Century Gothic" panose="020B0502020202020204" pitchFamily="34" charset="0"/>
              </a:rPr>
              <a:t>Github</a:t>
            </a:r>
            <a:endParaRPr lang="hu-HU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4" name="Csoportba foglalás 3">
            <a:extLst>
              <a:ext uri="{FF2B5EF4-FFF2-40B4-BE49-F238E27FC236}">
                <a16:creationId xmlns:a16="http://schemas.microsoft.com/office/drawing/2014/main" id="{9C3BA6F9-6F03-413D-B498-993E3B90363A}"/>
              </a:ext>
            </a:extLst>
          </p:cNvPr>
          <p:cNvGrpSpPr/>
          <p:nvPr/>
        </p:nvGrpSpPr>
        <p:grpSpPr>
          <a:xfrm>
            <a:off x="10926975" y="0"/>
            <a:ext cx="1265025" cy="1265025"/>
            <a:chOff x="9500314" y="3884524"/>
            <a:chExt cx="2343954" cy="2343954"/>
          </a:xfrm>
          <a:solidFill>
            <a:srgbClr val="4C5265"/>
          </a:solidFill>
        </p:grpSpPr>
        <p:sp>
          <p:nvSpPr>
            <p:cNvPr id="5" name="Téglalap 4">
              <a:extLst>
                <a:ext uri="{FF2B5EF4-FFF2-40B4-BE49-F238E27FC236}">
                  <a16:creationId xmlns:a16="http://schemas.microsoft.com/office/drawing/2014/main" id="{D1D8339D-D22E-4D5A-BA61-4025A9529B1B}"/>
                </a:ext>
              </a:extLst>
            </p:cNvPr>
            <p:cNvSpPr/>
            <p:nvPr/>
          </p:nvSpPr>
          <p:spPr>
            <a:xfrm>
              <a:off x="9500314" y="3884524"/>
              <a:ext cx="1171977" cy="117197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" name="Téglalap 5">
              <a:extLst>
                <a:ext uri="{FF2B5EF4-FFF2-40B4-BE49-F238E27FC236}">
                  <a16:creationId xmlns:a16="http://schemas.microsoft.com/office/drawing/2014/main" id="{D28F2974-94BB-4285-9787-5E18275B2D70}"/>
                </a:ext>
              </a:extLst>
            </p:cNvPr>
            <p:cNvSpPr/>
            <p:nvPr/>
          </p:nvSpPr>
          <p:spPr>
            <a:xfrm>
              <a:off x="10672291" y="3884524"/>
              <a:ext cx="1171977" cy="117197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" name="Téglalap 6">
              <a:extLst>
                <a:ext uri="{FF2B5EF4-FFF2-40B4-BE49-F238E27FC236}">
                  <a16:creationId xmlns:a16="http://schemas.microsoft.com/office/drawing/2014/main" id="{4C77BBCF-A671-4E71-8C21-EF3F0FED0B70}"/>
                </a:ext>
              </a:extLst>
            </p:cNvPr>
            <p:cNvSpPr/>
            <p:nvPr/>
          </p:nvSpPr>
          <p:spPr>
            <a:xfrm>
              <a:off x="10672291" y="5056501"/>
              <a:ext cx="1171977" cy="117197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8" name="Tartalom helye 7">
            <a:extLst>
              <a:ext uri="{FF2B5EF4-FFF2-40B4-BE49-F238E27FC236}">
                <a16:creationId xmlns:a16="http://schemas.microsoft.com/office/drawing/2014/main" id="{AF5AC40F-9633-4CAA-B627-B4113A0BB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53775"/>
            <a:ext cx="10515600" cy="2350449"/>
          </a:xfrm>
        </p:spPr>
        <p:txBody>
          <a:bodyPr/>
          <a:lstStyle/>
          <a:p>
            <a:pPr marL="0" indent="0" algn="ctr">
              <a:buNone/>
            </a:pPr>
            <a:endParaRPr lang="hu-HU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hu-HU" dirty="0">
                <a:solidFill>
                  <a:schemeClr val="bg1"/>
                </a:solidFill>
              </a:rPr>
              <a:t>A weboldal megtekinthető:</a:t>
            </a:r>
          </a:p>
          <a:p>
            <a:pPr marL="0" indent="0" algn="ctr">
              <a:buNone/>
            </a:pPr>
            <a:endParaRPr lang="hu-HU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hu-HU" dirty="0">
                <a:solidFill>
                  <a:schemeClr val="bg1"/>
                </a:solidFill>
              </a:rPr>
              <a:t>https://dns18.github.io/SZFM-FocusFlow/</a:t>
            </a:r>
          </a:p>
        </p:txBody>
      </p:sp>
    </p:spTree>
    <p:extLst>
      <p:ext uri="{BB962C8B-B14F-4D97-AF65-F5344CB8AC3E}">
        <p14:creationId xmlns:p14="http://schemas.microsoft.com/office/powerpoint/2010/main" val="2366663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2544497-0417-4B7B-8DC5-6B2A97721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hu-HU" dirty="0">
                <a:latin typeface="Century Gothic" panose="020B0502020202020204" pitchFamily="34" charset="0"/>
              </a:rPr>
              <a:t>Köszönjük a figyelmet!</a:t>
            </a:r>
          </a:p>
        </p:txBody>
      </p:sp>
    </p:spTree>
    <p:extLst>
      <p:ext uri="{BB962C8B-B14F-4D97-AF65-F5344CB8AC3E}">
        <p14:creationId xmlns:p14="http://schemas.microsoft.com/office/powerpoint/2010/main" val="1784201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147</Words>
  <Application>Microsoft Office PowerPoint</Application>
  <PresentationFormat>Szélesvásznú</PresentationFormat>
  <Paragraphs>16</Paragraphs>
  <Slides>9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Century Gothic</vt:lpstr>
      <vt:lpstr>Office-téma</vt:lpstr>
      <vt:lpstr>Szoftverfejlesztési módszertanok  FocusFlow</vt:lpstr>
      <vt:lpstr>Mi is az a FocusFlow?</vt:lpstr>
      <vt:lpstr>User Interface</vt:lpstr>
      <vt:lpstr>User Interface – Bejelentkezés/Regisztráció</vt:lpstr>
      <vt:lpstr>User Interface - Témaválasztás</vt:lpstr>
      <vt:lpstr>Backend – AI szabályozás</vt:lpstr>
      <vt:lpstr>Github</vt:lpstr>
      <vt:lpstr>Github</vt:lpstr>
      <vt:lpstr>Köszönjük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Szoftverfejlesztési módszertanok  FocusFlow</dc:title>
  <dc:creator>Győri Dénes</dc:creator>
  <cp:lastModifiedBy>Győri Dénes</cp:lastModifiedBy>
  <cp:revision>10</cp:revision>
  <dcterms:created xsi:type="dcterms:W3CDTF">2025-12-07T20:16:01Z</dcterms:created>
  <dcterms:modified xsi:type="dcterms:W3CDTF">2025-12-07T21:41:40Z</dcterms:modified>
</cp:coreProperties>
</file>